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7.xml" ContentType="application/vnd.openxmlformats-officedocument.presentationml.slide+xml"/>
  <Override PartName="/ppt/slides/slide29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B19ED12-39FD-4CBB-91F7-D1FFF0DDB19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Infrastructure session for the Network-telescope block. Goal: everyone can log in to Expanse, run the FlowTuple demo interactively, and submit it as a batch job.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Hands-on guide authored by Ricky Mok and Max Gao.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Pilot mentors: Alex Marder, Ricky Mok, kc claffy, Bradley Huffaker, Rocky Chang, Max Gao, Ben Du.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Technical questions: Ricky Mok (cskpmok@caida.org).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TODO confirm: session time (12:00 PT assumed from the standard plenary slot).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2A0022-670D-432B-888A-AD16F0B71A8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Re-orient: still block 7. The plenary covers what the telescope analysis means; here we run </a:t>
            </a:r>
            <a:r>
              <a:rPr b="0" lang="en-US" sz="2000" spc="-1" strike="noStrike">
                <a:latin typeface="Arial"/>
              </a:rPr>
              <a:t>it on Expanse.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1E7F95-16EC-4670-B6B5-0EB5D92E342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Keep it to orientation. No new concepts here; we are moving the existing workload onto HPC.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879A37-AD4A-42CF-A5A8-2A839B16A1C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Frame the three ideas the rest of Part 1 unpacks: nodes, Slurm, storage.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D6E60B-9EF8-42B1-B8D3-D46AB06DD8F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Motivate HPC from the workload: memory and wall-clock limits, plus the need to queue many runs.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B0DCDB-17AC-450F-A49A-C700D7DCBAC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Scale-setting only; </a:t>
            </a:r>
            <a:r>
              <a:rPr b="0" lang="en-US" sz="2000" spc="-1" strike="noStrike">
                <a:latin typeface="Arial"/>
              </a:rPr>
              <a:t>you never use most </a:t>
            </a:r>
            <a:r>
              <a:rPr b="0" lang="en-US" sz="2000" spc="-1" strike="noStrike">
                <a:latin typeface="Arial"/>
              </a:rPr>
              <a:t>of this.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stat: 728 compute </a:t>
            </a:r>
            <a:r>
              <a:rPr b="0" lang="en-US" sz="2000" spc="-1" strike="noStrike">
                <a:latin typeface="Arial"/>
              </a:rPr>
              <a:t>nodes src: </a:t>
            </a:r>
            <a:r>
              <a:rPr b="0" lang="en-US" sz="2000" spc="-1" strike="noStrike">
                <a:latin typeface="Arial"/>
              </a:rPr>
              <a:t>https://www.sdsc.ed</a:t>
            </a:r>
            <a:r>
              <a:rPr b="0" lang="en-US" sz="2000" spc="-1" strike="noStrike">
                <a:latin typeface="Arial"/>
              </a:rPr>
              <a:t>u/systems/expanse/</a:t>
            </a:r>
            <a:r>
              <a:rPr b="0" lang="en-US" sz="2000" spc="-1" strike="noStrike">
                <a:latin typeface="Arial"/>
              </a:rPr>
              <a:t>user_guide.html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stat: 93,184 CPU </a:t>
            </a:r>
            <a:r>
              <a:rPr b="0" lang="en-US" sz="2000" spc="-1" strike="noStrike">
                <a:latin typeface="Arial"/>
              </a:rPr>
              <a:t>cores src: </a:t>
            </a:r>
            <a:r>
              <a:rPr b="0" lang="en-US" sz="2000" spc="-1" strike="noStrike">
                <a:latin typeface="Arial"/>
              </a:rPr>
              <a:t>https://www.sdsc.ed</a:t>
            </a:r>
            <a:r>
              <a:rPr b="0" lang="en-US" sz="2000" spc="-1" strike="noStrike">
                <a:latin typeface="Arial"/>
              </a:rPr>
              <a:t>u/systems/expanse/</a:t>
            </a:r>
            <a:r>
              <a:rPr b="0" lang="en-US" sz="2000" spc="-1" strike="noStrike">
                <a:latin typeface="Arial"/>
              </a:rPr>
              <a:t>user_guide.html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stat: 52 GPU nodes </a:t>
            </a:r>
            <a:r>
              <a:rPr b="0" lang="en-US" sz="2000" spc="-1" strike="noStrike">
                <a:latin typeface="Arial"/>
              </a:rPr>
              <a:t>(208 V100 GPUs) </a:t>
            </a:r>
            <a:r>
              <a:rPr b="0" lang="en-US" sz="2000" spc="-1" strike="noStrike">
                <a:latin typeface="Arial"/>
              </a:rPr>
              <a:t>src: </a:t>
            </a:r>
            <a:r>
              <a:rPr b="0" lang="en-US" sz="2000" spc="-1" strike="noStrike">
                <a:latin typeface="Arial"/>
              </a:rPr>
              <a:t>https://www.sdsc.ed</a:t>
            </a:r>
            <a:r>
              <a:rPr b="0" lang="en-US" sz="2000" spc="-1" strike="noStrike">
                <a:latin typeface="Arial"/>
              </a:rPr>
              <a:t>u/systems/expanse/</a:t>
            </a:r>
            <a:r>
              <a:rPr b="0" lang="en-US" sz="2000" spc="-1" strike="noStrike">
                <a:latin typeface="Arial"/>
              </a:rPr>
              <a:t>user_guide.html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stat: 5.16 PFlop/s </a:t>
            </a:r>
            <a:r>
              <a:rPr b="0" lang="en-US" sz="2000" spc="-1" strike="noStrike">
                <a:latin typeface="Arial"/>
              </a:rPr>
              <a:t>peak src: </a:t>
            </a:r>
            <a:r>
              <a:rPr b="0" lang="en-US" sz="2000" spc="-1" strike="noStrike">
                <a:latin typeface="Arial"/>
              </a:rPr>
              <a:t>https://www.sdsc.ed</a:t>
            </a:r>
            <a:r>
              <a:rPr b="0" lang="en-US" sz="2000" spc="-1" strike="noStrike">
                <a:latin typeface="Arial"/>
              </a:rPr>
              <a:t>u/systems/expanse/</a:t>
            </a:r>
            <a:r>
              <a:rPr b="0" lang="en-US" sz="2000" spc="-1" strike="noStrike">
                <a:latin typeface="Arial"/>
              </a:rPr>
              <a:t>user_guide.html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note: the user guide's </a:t>
            </a:r>
            <a:r>
              <a:rPr b="0" lang="en-US" sz="2000" spc="-1" strike="noStrike">
                <a:latin typeface="Arial"/>
              </a:rPr>
              <a:t>prose says 54 GPU </a:t>
            </a:r>
            <a:r>
              <a:rPr b="0" lang="en-US" sz="2000" spc="-1" strike="noStrike">
                <a:latin typeface="Arial"/>
              </a:rPr>
              <a:t>nodes; its full-</a:t>
            </a:r>
            <a:r>
              <a:rPr b="0" lang="en-US" sz="2000" spc="-1" strike="noStrike">
                <a:latin typeface="Arial"/>
              </a:rPr>
              <a:t>system table says </a:t>
            </a:r>
            <a:r>
              <a:rPr b="0" lang="en-US" sz="2000" spc="-1" strike="noStrike">
                <a:latin typeface="Arial"/>
              </a:rPr>
              <a:t>52 / 208 GPUs — </a:t>
            </a:r>
            <a:r>
              <a:rPr b="0" lang="en-US" sz="2000" spc="-1" strike="noStrike">
                <a:latin typeface="Arial"/>
              </a:rPr>
              <a:t>used 52.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DFD34A-1D45-405E-BEF2-FFA5C6EF24F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single most common new-user mistake is running work on the login node. Say it plainly.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73CAF9-B6C1-4B07-96A0-019A9F5A679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These three commands cover almost everything students do this session. Partitions: they will use shared.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D87099-8333-4671-A6E3-AF409FE5BF4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Project space is where results go; </a:t>
            </a:r>
            <a:r>
              <a:rPr b="0" lang="en-US" sz="2000" spc="-1" strike="noStrike">
                <a:latin typeface="Arial"/>
              </a:rPr>
              <a:t>scratch and node-local are </a:t>
            </a:r>
            <a:r>
              <a:rPr b="0" lang="en-US" sz="2000" spc="-1" strike="noStrike">
                <a:latin typeface="Arial"/>
              </a:rPr>
              <a:t>temporary.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note: user guide — project purged 90 </a:t>
            </a:r>
            <a:r>
              <a:rPr b="0" lang="en-US" sz="2000" spc="-1" strike="noStrike">
                <a:latin typeface="Arial"/>
              </a:rPr>
              <a:t>days after allocation expires; </a:t>
            </a:r>
            <a:r>
              <a:rPr b="0" lang="en-US" sz="2000" spc="-1" strike="noStrike">
                <a:latin typeface="Arial"/>
              </a:rPr>
              <a:t>scratch 90 days from creation.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63797F-8838-458C-A37C-1472B5CB5FD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Project space is where results go; scratch and node-local are temporary.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note: user guide — project purged 90 days after allocation expires; scratch 90 days from creation.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D2B908-03E1-40AC-992C-8A38AA5130F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Project space is where results go; scratch and node-local are temporary.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note: user guide — project purged 90 days after allocation expires; scratch 90 days from creation.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D242BD-1F31-4955-A0B4-AED58040574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Keep this part brisk; it </a:t>
            </a:r>
            <a:r>
              <a:rPr b="0" lang="en-US" sz="2000" spc="-1" strike="noStrike">
                <a:latin typeface="Arial"/>
              </a:rPr>
              <a:t>is one-time setup. </a:t>
            </a:r>
            <a:r>
              <a:rPr b="0" lang="en-US" sz="2000" spc="-1" strike="noStrike">
                <a:latin typeface="Arial"/>
              </a:rPr>
              <a:t>Students who did it </a:t>
            </a:r>
            <a:r>
              <a:rPr b="0" lang="en-US" sz="2000" spc="-1" strike="noStrike">
                <a:latin typeface="Arial"/>
              </a:rPr>
              <a:t>already can help </a:t>
            </a:r>
            <a:r>
              <a:rPr b="0" lang="en-US" sz="2000" spc="-1" strike="noStrike">
                <a:latin typeface="Arial"/>
              </a:rPr>
              <a:t>neighbors.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0CEF60-CA99-4018-B9B1-2BE9BE31047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Do this before the </a:t>
            </a:r>
            <a:r>
              <a:rPr b="0" lang="en-US" sz="2000" spc="-1" strike="noStrike">
                <a:latin typeface="Arial"/>
              </a:rPr>
              <a:t>session if possible. </a:t>
            </a:r>
            <a:r>
              <a:rPr b="0" lang="en-US" sz="2000" spc="-1" strike="noStrike">
                <a:latin typeface="Arial"/>
              </a:rPr>
              <a:t>The 15-minute </a:t>
            </a:r>
            <a:r>
              <a:rPr b="0" lang="en-US" sz="2000" spc="-1" strike="noStrike">
                <a:latin typeface="Arial"/>
              </a:rPr>
              <a:t>propagation delay </a:t>
            </a:r>
            <a:r>
              <a:rPr b="0" lang="en-US" sz="2000" spc="-1" strike="noStrike">
                <a:latin typeface="Arial"/>
              </a:rPr>
              <a:t>catches people off </a:t>
            </a:r>
            <a:r>
              <a:rPr b="0" lang="en-US" sz="2000" spc="-1" strike="noStrike">
                <a:latin typeface="Arial"/>
              </a:rPr>
              <a:t>guard.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A9F991-F1AE-4761-A42F-2E4EFAE5263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Screenshot is the real expanse-client </a:t>
            </a:r>
            <a:r>
              <a:rPr b="0" lang="en-US" sz="2000" spc="-1" strike="noStrike">
                <a:latin typeface="Arial"/>
              </a:rPr>
              <a:t>output. Point out the PROJECT </a:t>
            </a:r>
            <a:r>
              <a:rPr b="0" lang="en-US" sz="2000" spc="-1" strike="noStrike">
                <a:latin typeface="Arial"/>
              </a:rPr>
              <a:t>column showing sdp178.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86B2D8-9076-42A0-9571-93B0E8B19DC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repo .bashrc defines the srun/jupyter aliases used for the rest of the session.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CA6586-6D22-41C0-9AA7-53A08835645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repo .bashrc defines the </a:t>
            </a:r>
            <a:r>
              <a:rPr b="0" lang="en-US" sz="2000" spc="-1" strike="noStrike">
                <a:latin typeface="Arial"/>
              </a:rPr>
              <a:t>srun/jupyter aliases used for the </a:t>
            </a:r>
            <a:r>
              <a:rPr b="0" lang="en-US" sz="2000" spc="-1" strike="noStrike">
                <a:latin typeface="Arial"/>
              </a:rPr>
              <a:t>rest of the session.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5B4262-DA24-4289-B41D-2916462399E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Credit the guide authors here. Two beats follow: the interactive notebook, then the batch job.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49145E-8B91-475D-A093-5E40C3A9F3F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Same analysis in the notebook and the batch script. Screenshot is the galyleo Jupyter </a:t>
            </a:r>
            <a:r>
              <a:rPr b="0" lang="en-US" sz="2000" spc="-1" strike="noStrike">
                <a:latin typeface="Arial"/>
              </a:rPr>
              <a:t>launch screen.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A188A6-0169-4BCD-8F7F-6C8C36FA9CE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Same analysis in the </a:t>
            </a:r>
            <a:r>
              <a:rPr b="0" lang="en-US" sz="2000" spc="-1" strike="noStrike">
                <a:latin typeface="Arial"/>
              </a:rPr>
              <a:t>notebook and the </a:t>
            </a:r>
            <a:r>
              <a:rPr b="0" lang="en-US" sz="2000" spc="-1" strike="noStrike">
                <a:latin typeface="Arial"/>
              </a:rPr>
              <a:t>batch script. </a:t>
            </a:r>
            <a:r>
              <a:rPr b="0" lang="en-US" sz="2000" spc="-1" strike="noStrike">
                <a:latin typeface="Arial"/>
              </a:rPr>
              <a:t>Screenshot is the </a:t>
            </a:r>
            <a:r>
              <a:rPr b="0" lang="en-US" sz="2000" spc="-1" strike="noStrike">
                <a:latin typeface="Arial"/>
              </a:rPr>
              <a:t>galyleo Jupyter </a:t>
            </a:r>
            <a:r>
              <a:rPr b="0" lang="en-US" sz="2000" spc="-1" strike="noStrike">
                <a:latin typeface="Arial"/>
              </a:rPr>
              <a:t>launch screen.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ED32E5-34C8-4843-87C5-91541BD585D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jupyter-shared-spark launches a galyleo Jupyter session as its own Slurm job.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note: srun-shared's mem/time differ between the README (16 GB / 4 hr) and the shipped .bashrc (4 GB / 30 min); the galyleo Jupyter alias here is unambiguous at 16 GB / 1 hr.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E931FA-429A-4927-8D7C-A3EF816D716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Cost discipline. A forgotten interactive job can burn credits for hours.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73A875-0729-43AB-A1DD-A5054B66B48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Cost discipline. A forgotten interactive job can burn credits for hours.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7A6BBD-4AEC-42C9-9D28-9C78CDC197E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Cost discipline. A forgotten interactive job can burn credits for hours.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9147D9-60A6-4E7F-8E93-D87AFBD157E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Most students never rebuild the </a:t>
            </a:r>
            <a:r>
              <a:rPr b="0" lang="en-US" sz="2000" spc="-1" strike="noStrike">
                <a:latin typeface="Arial"/>
              </a:rPr>
              <a:t>image; a shared .sif is referenced </a:t>
            </a:r>
            <a:r>
              <a:rPr b="0" lang="en-US" sz="2000" spc="-1" strike="noStrike">
                <a:latin typeface="Arial"/>
              </a:rPr>
              <a:t>by the Slurm script. Login nodes </a:t>
            </a:r>
            <a:r>
              <a:rPr b="0" lang="en-US" sz="2000" spc="-1" strike="noStrike">
                <a:latin typeface="Arial"/>
              </a:rPr>
              <a:t>cannot build images.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C94D78-E666-4898-957D-BD7807BC72C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shared_4x16G-batch.slurm: 4 CPU, 16 GB total (mem-per-cpu 4000 x 4), 30 min, shared partition.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83DF03-53B4-4B4C-A302-8638629A898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From the old Expanse tutorial's Slurm slide, including its email-notification exercise. shared caps at one node.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400E95-E9E5-4600-98C6-F740B9570AC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Full output path: /expanse/lustre/projects/sdp178/&lt;user&gt;/output/&lt;jobid&gt;/ (from shared_4x16G-batch.slurm).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1812D0-7BC2-41CD-94AC-7A752B7A6E0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Deliverable is proof both paths ran: the two CSVs from the batch output directory.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7D2C9C-41AD-411E-9AC3-481C8B9327F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Deliverable is proof both paths ran: the two CSVs from the batch output directory.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4E057C-D03A-467A-AE7B-A500B32ECCC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CAIDA/nids-expanse-2026" TargetMode="External"/><Relationship Id="rId2" Type="http://schemas.openxmlformats.org/officeDocument/2006/relationships/hyperlink" Target="https://www.sdsc.edu/systems/expanse/user_guide.html" TargetMode="External"/><Relationship Id="rId3" Type="http://schemas.openxmlformats.org/officeDocument/2006/relationships/hyperlink" Target="https://github.com/ciml-org/ciml-summer-institute-2026/tree/mai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3"/>
          <p:cNvSpPr/>
          <p:nvPr/>
        </p:nvSpPr>
        <p:spPr>
          <a:xfrm>
            <a:off x="1238400" y="1428840"/>
            <a:ext cx="8800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310" strike="noStrike">
                <a:solidFill>
                  <a:srgbClr val="a9c2e4"/>
                </a:solidFill>
                <a:latin typeface="Arial"/>
                <a:ea typeface="Arial"/>
              </a:rPr>
              <a:t>ESCALATE TRAINING PROGRAM · SUMMER 2026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238400" y="1955880"/>
            <a:ext cx="8240760" cy="18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0" lang="en-US" sz="5850" spc="-89" strike="noStrike">
                <a:solidFill>
                  <a:srgbClr val="212529"/>
                </a:solidFill>
                <a:latin typeface="Arial"/>
                <a:ea typeface="Arial"/>
              </a:rPr>
              <a:t>Telescope data analysis on Expanse</a:t>
            </a:r>
            <a:endParaRPr b="0" lang="en-US" sz="5850" spc="-1" strike="noStrike"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238400" y="3756960"/>
            <a:ext cx="82407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343a40"/>
                </a:solidFill>
                <a:latin typeface="Arial"/>
                <a:ea typeface="Arial"/>
              </a:rPr>
              <a:t>Week 7: run UCSD-NT FlowTuple analysis on an HPC cluster, interactively and then as a batch job.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238400" y="7626240"/>
            <a:ext cx="27885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PLENARY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1238400" y="7988400"/>
            <a:ext cx="27885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212529"/>
                </a:solidFill>
                <a:latin typeface="Arial"/>
                <a:ea typeface="Arial"/>
              </a:rPr>
              <a:t>Tue Jul 28, 2026 · 12:00 PT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158360" y="7626240"/>
            <a:ext cx="18950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INSTRUCTOR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4158360" y="7988400"/>
            <a:ext cx="189504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212529"/>
                </a:solidFill>
                <a:latin typeface="Arial"/>
                <a:ea typeface="Arial"/>
              </a:rPr>
              <a:t>Ricky Mok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6548040" y="7626240"/>
            <a:ext cx="5252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SENIOR MENTORS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6548040" y="7988400"/>
            <a:ext cx="525240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212529"/>
                </a:solidFill>
                <a:latin typeface="Arial"/>
                <a:ea typeface="Arial"/>
              </a:rPr>
              <a:t>kc claffy</a:t>
            </a:r>
            <a:r>
              <a:rPr b="0" lang="en-US" sz="1950" spc="-1" strike="noStrike">
                <a:solidFill>
                  <a:srgbClr val="212529"/>
                </a:solidFill>
                <a:latin typeface="Arial"/>
                <a:ea typeface="Arial"/>
              </a:rPr>
              <a:t> · Bradley Huffaker · Rocky Chang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11990160" y="7626240"/>
            <a:ext cx="29426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PROGRAM CONTACT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11990160" y="7988400"/>
            <a:ext cx="29426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212529"/>
                </a:solidFill>
                <a:latin typeface="Arial"/>
                <a:ea typeface="Arial"/>
              </a:rPr>
              <a:t>training-program-info@caida.org</a:t>
            </a:r>
            <a:endParaRPr b="0" lang="en-US" sz="1950" spc="-1" strike="noStrike"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1238400" y="8572680"/>
            <a:ext cx="925920" cy="914040"/>
          </a:xfrm>
          <a:prstGeom prst="rect">
            <a:avLst/>
          </a:prstGeom>
          <a:ln w="0">
            <a:noFill/>
          </a:ln>
        </p:spPr>
      </p:pic>
      <p:pic>
        <p:nvPicPr>
          <p:cNvPr id="56" name="Image 1" descr="preencoded.png"/>
          <p:cNvPicPr/>
          <p:nvPr/>
        </p:nvPicPr>
        <p:blipFill>
          <a:blip r:embed="rId2"/>
          <a:stretch/>
        </p:blipFill>
        <p:spPr>
          <a:xfrm>
            <a:off x="2355120" y="85726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57" name="Text 14"/>
          <p:cNvSpPr/>
          <p:nvPr/>
        </p:nvSpPr>
        <p:spPr>
          <a:xfrm>
            <a:off x="3459960" y="8893080"/>
            <a:ext cx="627408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Supported by the NSF ESCALATE project · OAC-2519416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3"/>
          <a:stretch/>
        </p:blipFill>
        <p:spPr>
          <a:xfrm>
            <a:off x="10528920" y="2286000"/>
            <a:ext cx="5930280" cy="395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THE ARC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Ten building blocks — you are here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1238400" y="2284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4"/>
          <p:cNvSpPr/>
          <p:nvPr/>
        </p:nvSpPr>
        <p:spPr>
          <a:xfrm>
            <a:off x="1454040" y="250020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1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1454040" y="3071520"/>
            <a:ext cx="263952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Internet structure &amp; ASNs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4442400" y="2284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7"/>
          <p:cNvSpPr/>
          <p:nvPr/>
        </p:nvSpPr>
        <p:spPr>
          <a:xfrm>
            <a:off x="4658400" y="250020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2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4658400" y="3071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BGP at scale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7646760" y="2284200"/>
            <a:ext cx="2994480" cy="3254760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0"/>
          <p:cNvSpPr/>
          <p:nvPr/>
        </p:nvSpPr>
        <p:spPr>
          <a:xfrm>
            <a:off x="7862400" y="250020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3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7862400" y="3071520"/>
            <a:ext cx="263952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Registries: WHOIS / IRR / RPKI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10850760" y="2284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3"/>
          <p:cNvSpPr/>
          <p:nvPr/>
        </p:nvSpPr>
        <p:spPr>
          <a:xfrm>
            <a:off x="11066760" y="250020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4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1066760" y="3071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Traceroute, ITDK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14055120" y="2284200"/>
            <a:ext cx="2994480" cy="3254760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6"/>
          <p:cNvSpPr/>
          <p:nvPr/>
        </p:nvSpPr>
        <p:spPr>
          <a:xfrm>
            <a:off x="14270760" y="250020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5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14270760" y="3071520"/>
            <a:ext cx="263952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DNS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1238400" y="5749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9"/>
          <p:cNvSpPr/>
          <p:nvPr/>
        </p:nvSpPr>
        <p:spPr>
          <a:xfrm>
            <a:off x="1454040" y="596484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6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1454040" y="6536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12529"/>
                </a:solidFill>
                <a:latin typeface="Arial"/>
                <a:ea typeface="Arial"/>
              </a:rPr>
              <a:t>Network telescope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4442400" y="5749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e9eff7"/>
          </a:solidFill>
          <a:ln w="6350">
            <a:solidFill>
              <a:srgbClr val="2b518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2"/>
          <p:cNvSpPr/>
          <p:nvPr/>
        </p:nvSpPr>
        <p:spPr>
          <a:xfrm>
            <a:off x="4658400" y="596484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2b5187"/>
                </a:solidFill>
                <a:latin typeface="Arial"/>
                <a:ea typeface="Arial"/>
              </a:rPr>
              <a:t>7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82" name="Text 23"/>
          <p:cNvSpPr/>
          <p:nvPr/>
        </p:nvSpPr>
        <p:spPr>
          <a:xfrm>
            <a:off x="4658400" y="6536520"/>
            <a:ext cx="281880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529"/>
                </a:solidFill>
                <a:latin typeface="Arial"/>
                <a:ea typeface="Arial"/>
              </a:rPr>
              <a:t>Traffic analysis on HPC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3" name="Shape 24"/>
          <p:cNvSpPr/>
          <p:nvPr/>
        </p:nvSpPr>
        <p:spPr>
          <a:xfrm>
            <a:off x="7646760" y="5749200"/>
            <a:ext cx="2994480" cy="3254760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5"/>
          <p:cNvSpPr/>
          <p:nvPr/>
        </p:nvSpPr>
        <p:spPr>
          <a:xfrm>
            <a:off x="7862400" y="596484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8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7862400" y="6536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Data fusion (IYP)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10850760" y="5749200"/>
            <a:ext cx="2994120" cy="32547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8"/>
          <p:cNvSpPr/>
          <p:nvPr/>
        </p:nvSpPr>
        <p:spPr>
          <a:xfrm>
            <a:off x="11066760" y="596484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9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11066760" y="6536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Degradation forensics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Shape 30"/>
          <p:cNvSpPr/>
          <p:nvPr/>
        </p:nvSpPr>
        <p:spPr>
          <a:xfrm>
            <a:off x="14055120" y="5749200"/>
            <a:ext cx="2994480" cy="3254760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31"/>
          <p:cNvSpPr/>
          <p:nvPr/>
        </p:nvSpPr>
        <p:spPr>
          <a:xfrm>
            <a:off x="14270760" y="5964840"/>
            <a:ext cx="28188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50" spc="-1" strike="noStrike">
                <a:solidFill>
                  <a:srgbClr val="c2c8d2"/>
                </a:solidFill>
                <a:latin typeface="Arial"/>
                <a:ea typeface="Arial"/>
              </a:rPr>
              <a:t>10</a:t>
            </a:r>
            <a:endParaRPr b="0" lang="en-US" sz="3450" spc="-1" strike="noStrike">
              <a:latin typeface="Arial"/>
            </a:endParaRPr>
          </a:p>
        </p:txBody>
      </p:sp>
      <p:sp>
        <p:nvSpPr>
          <p:cNvPr id="91" name="Text 32"/>
          <p:cNvSpPr/>
          <p:nvPr/>
        </p:nvSpPr>
        <p:spPr>
          <a:xfrm>
            <a:off x="14270760" y="6536520"/>
            <a:ext cx="281880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SDSC hackathon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2" name="Text 33"/>
          <p:cNvSpPr/>
          <p:nvPr/>
        </p:nvSpPr>
        <p:spPr>
          <a:xfrm>
            <a:off x="1238400" y="9110160"/>
            <a:ext cx="1739232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6c757d"/>
                </a:solidFill>
                <a:latin typeface="Arial"/>
                <a:ea typeface="Arial"/>
              </a:rPr>
              <a:t>Block 7, the network telescope. This session is the platform hour, where the analysis runs at scale.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Text 34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LAST WEEK · RECAP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Where we are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238400" y="5068440"/>
            <a:ext cx="10766880" cy="33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You have run Pcap analysis using a small subset of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UCSD-NT data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on NRP, and learn the concept of flows.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c2c8d2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Today: You are going to learn how to analyze FlowTuple data published by UCSD-NT on SDSC Expanse, interactive first, then batch.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12096720" y="4668480"/>
            <a:ext cx="4952520" cy="2760480"/>
          </a:xfrm>
          <a:prstGeom prst="roundRect">
            <a:avLst>
              <a:gd name="adj" fmla="val 3824"/>
            </a:avLst>
          </a:prstGeom>
          <a:solidFill>
            <a:srgbClr val="e9eff7"/>
          </a:solidFill>
          <a:ln w="6350">
            <a:solidFill>
              <a:srgbClr val="2b51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06440" rIns="406440" tIns="406440" bIns="406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2b5187"/>
                </a:solidFill>
                <a:latin typeface="Arial"/>
                <a:ea typeface="Arial"/>
              </a:rPr>
              <a:t>THIS WEEK BUILDS ON IT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4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212529"/>
                </a:solidFill>
                <a:latin typeface="Arial"/>
                <a:ea typeface="Arial"/>
              </a:rPr>
              <a:t>This week adds the platform, not new analysis: Expanse is where telescope work scales.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3"/>
          <p:cNvSpPr/>
          <p:nvPr/>
        </p:nvSpPr>
        <p:spPr>
          <a:xfrm>
            <a:off x="1238400" y="2190600"/>
            <a:ext cx="809820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350" strike="noStrike">
                <a:solidFill>
                  <a:srgbClr val="a9c2e4"/>
                </a:solidFill>
                <a:latin typeface="Arial"/>
                <a:ea typeface="Arial"/>
              </a:rPr>
              <a:t>PART ONE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238400" y="2565360"/>
            <a:ext cx="8098200" cy="22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5750" spc="-316" strike="noStrik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b="0" lang="en-US" sz="15750" spc="-1" strike="noStrike"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238400" y="4613400"/>
            <a:ext cx="809820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800" spc="-49" strike="noStrike">
                <a:solidFill>
                  <a:srgbClr val="ffffff"/>
                </a:solidFill>
                <a:latin typeface="Arial"/>
                <a:ea typeface="Arial"/>
              </a:rPr>
              <a:t>Why Expanse?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238400" y="5491080"/>
            <a:ext cx="809820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The HPC model: login nodes, compute nodes, and a scheduler.</a:t>
            </a:r>
            <a:endParaRPr b="0" lang="en-U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SCALE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Interactive notebooks have its limitation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1238400" y="4460760"/>
            <a:ext cx="8721360" cy="40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 notebook has overhead, reducing the resource you could use for analysis.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Notebooks typically support python and R. Both are inefficient to handle traffic data.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Expanse can schedule batch jobs across multiple compute nodes (not cover today).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11012400" y="75877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One notebook on one node, versus many scheduled nodes.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0" name="Picture 14" descr="ceiling.png"/>
          <p:cNvPicPr/>
          <p:nvPr/>
        </p:nvPicPr>
        <p:blipFill>
          <a:blip r:embed="rId1"/>
          <a:stretch/>
        </p:blipFill>
        <p:spPr>
          <a:xfrm>
            <a:off x="10773000" y="3907080"/>
            <a:ext cx="5885640" cy="350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SCALE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SDSC Expanse at a glance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1238400" y="2341440"/>
            <a:ext cx="3752640" cy="228564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4"/>
          <p:cNvSpPr/>
          <p:nvPr/>
        </p:nvSpPr>
        <p:spPr>
          <a:xfrm>
            <a:off x="1581120" y="2932920"/>
            <a:ext cx="337356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2b5187"/>
                </a:solidFill>
                <a:latin typeface="Arial"/>
                <a:ea typeface="Arial"/>
              </a:rPr>
              <a:t>728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1581120" y="3714120"/>
            <a:ext cx="33735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compute nodes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5257800" y="2341440"/>
            <a:ext cx="3752640" cy="228564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7"/>
          <p:cNvSpPr/>
          <p:nvPr/>
        </p:nvSpPr>
        <p:spPr>
          <a:xfrm>
            <a:off x="5600880" y="2932920"/>
            <a:ext cx="337356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2b5187"/>
                </a:solidFill>
                <a:latin typeface="Arial"/>
                <a:ea typeface="Arial"/>
              </a:rPr>
              <a:t>93,184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600880" y="3714120"/>
            <a:ext cx="33735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CPU cores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9277200" y="2341440"/>
            <a:ext cx="3752640" cy="228564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0"/>
          <p:cNvSpPr/>
          <p:nvPr/>
        </p:nvSpPr>
        <p:spPr>
          <a:xfrm>
            <a:off x="9620280" y="2932920"/>
            <a:ext cx="337356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2b5187"/>
                </a:solidFill>
                <a:latin typeface="Arial"/>
                <a:ea typeface="Arial"/>
              </a:rPr>
              <a:t>52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9620280" y="3714120"/>
            <a:ext cx="33735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GPU nodes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13296960" y="2341440"/>
            <a:ext cx="3752640" cy="228564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3"/>
          <p:cNvSpPr/>
          <p:nvPr/>
        </p:nvSpPr>
        <p:spPr>
          <a:xfrm>
            <a:off x="13639680" y="2932920"/>
            <a:ext cx="3373560" cy="7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2b5187"/>
                </a:solidFill>
                <a:latin typeface="Arial"/>
                <a:ea typeface="Arial"/>
              </a:rPr>
              <a:t>5.16 PF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13639680" y="3714120"/>
            <a:ext cx="33735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peak performance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1238400" y="5027400"/>
            <a:ext cx="146682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6c757d"/>
                </a:solidFill>
                <a:latin typeface="Arial"/>
                <a:ea typeface="Arial"/>
              </a:rPr>
              <a:t>A shared cluster; each job uses a small slice of it.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THE NODES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Login nodes </a:t>
            </a:r>
            <a:r>
              <a:rPr b="0" i="1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vs.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 compute nodes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238400" y="4460760"/>
            <a:ext cx="8721360" cy="40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You land on a login node: edit files, submit jobs, move small data.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be4228"/>
                </a:solidFill>
                <a:latin typeface="Arial"/>
                <a:ea typeface="Arial"/>
              </a:rPr>
              <a:t>Never run heavy compute on the login node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 It is shared by everyone.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Real work runs on compute nodes, reached with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srun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or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sbatch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11012400" y="75877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Submit from the login node; compute happens on the nodes.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4" name="Picture 14" descr="login_compute.png"/>
          <p:cNvPicPr/>
          <p:nvPr/>
        </p:nvPicPr>
        <p:blipFill>
          <a:blip r:embed="rId1"/>
          <a:stretch/>
        </p:blipFill>
        <p:spPr>
          <a:xfrm>
            <a:off x="10773000" y="3907080"/>
            <a:ext cx="5885640" cy="350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SLURM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Slurm, the job scheduler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1238400" y="2874600"/>
            <a:ext cx="8721360" cy="59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Compose </a:t>
            </a: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.slurm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 scripts to configure jobs.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sbatch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submits a job;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squeue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watches it;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scancel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stops it.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Partitions run time limits: 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debug (30 min), </a:t>
            </a:r>
            <a:endParaRPr b="0" lang="en-US" sz="24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Shared (48 hrs, 1 node),</a:t>
            </a:r>
            <a:endParaRPr b="0" lang="en-US" sz="24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Compute (48 hrs, exclusive access to 1 or more nodes).</a:t>
            </a:r>
            <a:endParaRPr b="0" lang="en-US" sz="24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 job waits (PD) until resources free, then runs (R) on a compute node.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11012400" y="75877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sbatch to queue to run to output; squeue watches, scancel stops.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41" name="Picture 14" descr="slurm_flow.png"/>
          <p:cNvPicPr/>
          <p:nvPr/>
        </p:nvPicPr>
        <p:blipFill>
          <a:blip r:embed="rId1"/>
          <a:stretch/>
        </p:blipFill>
        <p:spPr>
          <a:xfrm>
            <a:off x="10773000" y="3907080"/>
            <a:ext cx="5885640" cy="350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STORAGE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Storage on Expanse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1238400" y="3343680"/>
            <a:ext cx="8721360" cy="54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/home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(100 GB) is for code only; never store data there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Lustre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projects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persists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/expanse/lustre/projects/&lt;proj_id&gt;</a:t>
            </a:r>
            <a:endParaRPr b="0" lang="en-US" sz="24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scratch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is purged after 90 days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/expanse/lustre/scratch/&lt;username&gt;</a:t>
            </a:r>
            <a:endParaRPr b="0" lang="en-US" sz="24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Node-local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/scratch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(1TB) is fast but erased when the job ends.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11012400" y="75877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Put results in project space; scratch and node-local are temporary.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48" name="Picture 14" descr="storage.png"/>
          <p:cNvPicPr/>
          <p:nvPr/>
        </p:nvPicPr>
        <p:blipFill>
          <a:blip r:embed="rId1"/>
          <a:stretch/>
        </p:blipFill>
        <p:spPr>
          <a:xfrm>
            <a:off x="10773000" y="3907080"/>
            <a:ext cx="5885640" cy="350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24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E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E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K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7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·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U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I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L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D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I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N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G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L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O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C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K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7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/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1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STORAGE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51" name="Text 30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UCSD-NT Data pipeline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52" name="Text 35"/>
          <p:cNvSpPr/>
          <p:nvPr/>
        </p:nvSpPr>
        <p:spPr>
          <a:xfrm>
            <a:off x="1238400" y="3343680"/>
            <a:ext cx="8721360" cy="63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Expanse can directly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access CAIDA’s object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storage via S3 protocol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telescope-ucsdnt-pcap-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live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One file every hour</a:t>
            </a:r>
            <a:endParaRPr b="0" lang="en-US" sz="24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datasource=ucsd-nt/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year=&lt;YYYY&gt;/month=&lt;MM&gt;/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day=&lt;DD&gt;/hour=&lt;HH&gt;/ucsd-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nt.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&lt;unixts&gt;.pcap.gz</a:t>
            </a:r>
            <a:endParaRPr b="0" lang="en-US" sz="2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telescope-ucsdnt-avro-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flowtuple-v4-&lt;YYYY&gt;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FlowTuple files. One every 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5 mins</a:t>
            </a:r>
            <a:endParaRPr b="0" lang="en-US" sz="24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datasource=ucsd-nt/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year=&lt;YYYY&gt;/month=&lt;MM&gt;/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day=&lt;DD&gt;/hour=&lt;HH&gt;/ucsd-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nt.&lt;unixts&gt;.flowtuple-v4.avro</a:t>
            </a:r>
            <a:endParaRPr b="0" lang="en-US" sz="2000" spc="-1" strike="noStrike">
              <a:latin typeface="Arial"/>
            </a:endParaRPr>
          </a:p>
          <a:p>
            <a:pPr lvl="1" marL="432000" indent="-216000">
              <a:lnSpc>
                <a:spcPct val="140000"/>
              </a:lnSpc>
              <a:spcBef>
                <a:spcPts val="7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000" spc="-1" strike="noStrike">
              <a:latin typeface="Arial"/>
            </a:endParaRPr>
          </a:p>
        </p:txBody>
      </p:sp>
      <p:sp>
        <p:nvSpPr>
          <p:cNvPr id="153" name="Text 36"/>
          <p:cNvSpPr/>
          <p:nvPr/>
        </p:nvSpPr>
        <p:spPr>
          <a:xfrm>
            <a:off x="11012400" y="7587720"/>
            <a:ext cx="5947560" cy="11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UCSD-NT data is stored in an OpenSwift object storage at CAIDA accessible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via S3 protocol.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Text 37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10287000" y="3429000"/>
            <a:ext cx="7267320" cy="401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42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EE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K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7 ·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BU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IL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DI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N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G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BL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O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CK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7 /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Text 44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WHY EXPANSE · STORAGE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58" name="Text 45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Reference materials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59" name="Text 46"/>
          <p:cNvSpPr/>
          <p:nvPr/>
        </p:nvSpPr>
        <p:spPr>
          <a:xfrm>
            <a:off x="1238400" y="3343680"/>
            <a:ext cx="11334600" cy="45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Code and documentation for this class: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  <a:hlinkClick r:id="rId1"/>
              </a:rPr>
              <a:t>https://github.com/CAIDA/nids-expanse-2026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Expanse user guide: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  <a:hlinkClick r:id="rId2"/>
              </a:rPr>
              <a:t>https://www.sdsc.edu/systems/expanse/user_guide.html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CIML summer institute resources: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  <a:hlinkClick r:id="rId3"/>
              </a:rPr>
              <a:t>https://github.com/ciml-org/ciml-summer-institute-2026/tree/main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endParaRPr b="0" lang="en-US" sz="3000" spc="-1" strike="noStrike">
              <a:latin typeface="Arial"/>
            </a:endParaRPr>
          </a:p>
        </p:txBody>
      </p:sp>
      <p:sp>
        <p:nvSpPr>
          <p:cNvPr id="160" name="Text 48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ALAT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Traini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ng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Progr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am ·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Sum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mer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3"/>
          <p:cNvSpPr/>
          <p:nvPr/>
        </p:nvSpPr>
        <p:spPr>
          <a:xfrm>
            <a:off x="1238400" y="2190600"/>
            <a:ext cx="809820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350" strike="noStrike">
                <a:solidFill>
                  <a:srgbClr val="a9c2e4"/>
                </a:solidFill>
                <a:latin typeface="Arial"/>
                <a:ea typeface="Arial"/>
              </a:rPr>
              <a:t>PART TWO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1238400" y="2565360"/>
            <a:ext cx="8098200" cy="22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5750" spc="-316" strike="noStrik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b="0" lang="en-US" sz="15750" spc="-1" strike="noStrike"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238400" y="4613400"/>
            <a:ext cx="809820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800" spc="-49" strike="noStrike">
                <a:solidFill>
                  <a:srgbClr val="ffffff"/>
                </a:solidFill>
                <a:latin typeface="Arial"/>
                <a:ea typeface="Arial"/>
              </a:rPr>
              <a:t>Get onto Expanse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238400" y="5491080"/>
            <a:ext cx="13392000" cy="26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Account, two-factor login: https://github.com/CAIDA/nids-expanse-2026/tree/main/0_hello_world_to_expanse</a:t>
            </a:r>
            <a:br>
              <a:rPr sz="2550"/>
            </a:b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Setup</a:t>
            </a: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 your environment:</a:t>
            </a:r>
            <a:endParaRPr b="0" lang="en-US" sz="255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https://github.com/CAIDA/nids-expanse-2026/tree/main/1_setting_up_env</a:t>
            </a:r>
            <a:br>
              <a:rPr sz="2550"/>
            </a:br>
            <a:endParaRPr b="0" lang="en-U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be4228"/>
                </a:solidFill>
                <a:latin typeface="Arial"/>
                <a:ea typeface="Arial"/>
              </a:rPr>
              <a:t>ACTION REQUIRED · WEEK 7 SETUP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Get an account and log in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1238400" y="445752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4"/>
          <p:cNvSpPr/>
          <p:nvPr/>
        </p:nvSpPr>
        <p:spPr>
          <a:xfrm>
            <a:off x="1200240" y="45464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2095560" y="4101120"/>
            <a:ext cx="154026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Register at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access-ci.org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with your institution email; send your ACCESS ID to the instructor.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1238400" y="554256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7"/>
          <p:cNvSpPr/>
          <p:nvPr/>
        </p:nvSpPr>
        <p:spPr>
          <a:xfrm>
            <a:off x="1200240" y="563148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2095560" y="538632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Reset your ACCESS password if you have not set one.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1238400" y="665748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0"/>
          <p:cNvSpPr/>
          <p:nvPr/>
        </p:nvSpPr>
        <p:spPr>
          <a:xfrm>
            <a:off x="1200240" y="674640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2095560" y="6301080"/>
            <a:ext cx="154026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Enroll 2FA at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passive.sdsc.edu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(Globus, choose ACCESS CI) using Google Authenticator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; allow up to 15 min after enrolling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1238400" y="782676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13"/>
          <p:cNvSpPr/>
          <p:nvPr/>
        </p:nvSpPr>
        <p:spPr>
          <a:xfrm>
            <a:off x="1200240" y="791568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2095560" y="7778160"/>
            <a:ext cx="1540260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SSH to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login.expanse.sdsc.edu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and enter the TOTP code.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GET ON · YOUR PROJECT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Confirm you're in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1238400" y="4460760"/>
            <a:ext cx="8721360" cy="47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 </a:t>
            </a: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expanse-client user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to list your projects.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The ETP 2026 project is </a:t>
            </a: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sdp178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; you charge jobs to it.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The browser Expanse Portal  (https://portal.expanse.sdsc.edu) works too, but SSH is recommended.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10744200" y="69901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expanse-client user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lists your projects; ETP 2026 is sdp178.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7" name="Picture 14" descr="expanse-user.png"/>
          <p:cNvPicPr/>
          <p:nvPr/>
        </p:nvPicPr>
        <p:blipFill>
          <a:blip r:embed="rId1"/>
          <a:stretch/>
        </p:blipFill>
        <p:spPr>
          <a:xfrm>
            <a:off x="10763280" y="4712400"/>
            <a:ext cx="5905080" cy="189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be4228"/>
                </a:solidFill>
                <a:latin typeface="Arial"/>
                <a:ea typeface="Arial"/>
              </a:rPr>
              <a:t>ACTION REQUIRED · WEEK 7 SETUP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Set up your shell environment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1238400" y="43520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4"/>
          <p:cNvSpPr/>
          <p:nvPr/>
        </p:nvSpPr>
        <p:spPr>
          <a:xfrm>
            <a:off x="1200240" y="44600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2095560" y="3957120"/>
            <a:ext cx="154026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Clone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git@github.com:CAIDA/nids-expanse-2026.git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into your home dir (SSH agent forwarding).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1238400" y="56138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7"/>
          <p:cNvSpPr/>
          <p:nvPr/>
        </p:nvSpPr>
        <p:spPr>
          <a:xfrm>
            <a:off x="1200240" y="57218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2095560" y="547092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Back up your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.bashrc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, then copy the repo's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.bashrc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over it.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7" name="Shape 9"/>
          <p:cNvSpPr/>
          <p:nvPr/>
        </p:nvSpPr>
        <p:spPr>
          <a:xfrm>
            <a:off x="1238400" y="68756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0"/>
          <p:cNvSpPr/>
          <p:nvPr/>
        </p:nvSpPr>
        <p:spPr>
          <a:xfrm>
            <a:off x="1200240" y="69836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2095560" y="67330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Log out and back in to load the new environment.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1238400" y="813780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3"/>
          <p:cNvSpPr/>
          <p:nvPr/>
        </p:nvSpPr>
        <p:spPr>
          <a:xfrm>
            <a:off x="1200240" y="824580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2095560" y="79948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Check it: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echo $ETP26_ACCOUNT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prints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sdp178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61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Text 62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be4228"/>
                </a:solidFill>
                <a:latin typeface="Arial"/>
                <a:ea typeface="Arial"/>
              </a:rPr>
              <a:t>ACTION REQUIRED · WEEK 7 SETUP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06" name="Text 63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Run your first job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07" name="Text 72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Summer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 64"/>
          <p:cNvSpPr/>
          <p:nvPr/>
        </p:nvSpPr>
        <p:spPr>
          <a:xfrm>
            <a:off x="1238400" y="4100760"/>
            <a:ext cx="14306400" cy="26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</a:t>
            </a: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hostname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</a:t>
            </a: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srun-shared</a:t>
            </a:r>
            <a:r>
              <a:rPr b="1" lang="en-US" sz="3000" spc="-1" strike="noStrike">
                <a:solidFill>
                  <a:srgbClr val="666666"/>
                </a:solidFill>
                <a:latin typeface="Arial"/>
                <a:ea typeface="Arial"/>
              </a:rPr>
              <a:t>-lecture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</a:t>
            </a: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hostname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again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Exit the node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0515600" y="5257800"/>
            <a:ext cx="5257800" cy="11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3"/>
          <p:cNvSpPr/>
          <p:nvPr/>
        </p:nvSpPr>
        <p:spPr>
          <a:xfrm>
            <a:off x="1238400" y="2190600"/>
            <a:ext cx="809820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350" strike="noStrike">
                <a:solidFill>
                  <a:srgbClr val="a9c2e4"/>
                </a:solidFill>
                <a:latin typeface="Arial"/>
                <a:ea typeface="Arial"/>
              </a:rPr>
              <a:t>PART THREE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1238400" y="2565360"/>
            <a:ext cx="8098200" cy="22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5750" spc="-316" strike="noStrik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b="0" lang="en-US" sz="15750" spc="-1" strike="noStrike"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1238400" y="4613400"/>
            <a:ext cx="809820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800" spc="-49" strike="noStrike">
                <a:solidFill>
                  <a:srgbClr val="ffffff"/>
                </a:solidFill>
                <a:latin typeface="Arial"/>
                <a:ea typeface="Arial"/>
              </a:rPr>
              <a:t>Run the analysis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1238400" y="5491080"/>
            <a:ext cx="14077800" cy="16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Hands-on guide: </a:t>
            </a:r>
            <a:endParaRPr b="0" lang="en-US" sz="255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Interactive https://github.com/CAIDA/nids-expanse-2026/tree/main/2_running_juypter_notebook</a:t>
            </a:r>
            <a:endParaRPr b="0" lang="en-US" sz="255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2550" spc="-1" strike="noStrike">
                <a:solidFill>
                  <a:srgbClr val="a9c2e4"/>
                </a:solidFill>
                <a:latin typeface="Arial"/>
                <a:ea typeface="Arial"/>
              </a:rPr>
              <a:t>Batch https://github.com/CAIDA/nids-expanse-2026/tree/main/3_running_batch_job</a:t>
            </a:r>
            <a:endParaRPr b="0" lang="en-U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THE DEMO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The demo code: ft-demo.ipynb/.py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1238400" y="4100760"/>
            <a:ext cx="14306400" cy="33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ft-demo</a:t>
            </a: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loads 30 minutes of UCSD-NT FlowTuple data (i.e., 6 files) with PySpark.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The notebook version (ft-demo.ipynb) and the batch version (ft-demo.py) perform the same analysis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It filters and aggregates metrics of flows based on the different features.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54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K 7 ·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BUIL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DIN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G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BLO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CK 7 </a:t>
            </a: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0" name="Text 55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THE DEMO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21" name="Text 56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W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h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at 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is 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Fl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o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w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T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u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pl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e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?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22" name="Text 57"/>
          <p:cNvSpPr/>
          <p:nvPr/>
        </p:nvSpPr>
        <p:spPr>
          <a:xfrm>
            <a:off x="1238400" y="4100760"/>
            <a:ext cx="14306400" cy="32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FlowTuple is a flow-like format designed for aggregating UCSD-NT data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Each FlowTuple file is stored as Apache Avro format (row-based) for high compression ratio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Details about the format and schema:</a:t>
            </a:r>
            <a:endParaRPr b="0" lang="en-US" sz="3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https://www.caida.org/projects/network_telescope/docs/data/flowtuple/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23" name="Text 58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be4228"/>
                </a:solidFill>
                <a:latin typeface="Arial"/>
                <a:ea typeface="Arial"/>
              </a:rPr>
              <a:t>ACTION REQUIRED · WEEK 7 SETUP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Run the juypter notebook version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1238400" y="43520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4"/>
          <p:cNvSpPr/>
          <p:nvPr/>
        </p:nvSpPr>
        <p:spPr>
          <a:xfrm>
            <a:off x="1200240" y="44600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2095560" y="420912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Load credentials: source /expanse/lustre/projects/sdp178/kmok/.ucsdnts3.key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1238400" y="56138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7"/>
          <p:cNvSpPr/>
          <p:nvPr/>
        </p:nvSpPr>
        <p:spPr>
          <a:xfrm>
            <a:off x="1200240" y="57218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2095560" y="5218920"/>
            <a:ext cx="154026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Run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jupyter-shared-spark</a:t>
            </a:r>
            <a:r>
              <a:rPr b="1" lang="en-US" sz="3000" spc="-1" strike="noStrike">
                <a:solidFill>
                  <a:srgbClr val="666666"/>
                </a:solidFill>
                <a:latin typeface="Roboto Mono"/>
                <a:ea typeface="Arial"/>
              </a:rPr>
              <a:t>-lecture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</a:t>
            </a:r>
            <a:br>
              <a:rPr sz="3000"/>
            </a:b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(shared: 4 CPU, 16 GB, 1 hr).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1238400" y="68756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0"/>
          <p:cNvSpPr/>
          <p:nvPr/>
        </p:nvSpPr>
        <p:spPr>
          <a:xfrm>
            <a:off x="1200240" y="69836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2095560" y="67690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Open the printed URL and token in your browser.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1238400" y="813780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3"/>
          <p:cNvSpPr/>
          <p:nvPr/>
        </p:nvSpPr>
        <p:spPr>
          <a:xfrm>
            <a:off x="1200240" y="824580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2095560" y="79948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Run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ft-demo.ipynb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top to bottom.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0" name="Text 38"/>
          <p:cNvSpPr/>
          <p:nvPr/>
        </p:nvSpPr>
        <p:spPr>
          <a:xfrm>
            <a:off x="11683080" y="85903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Waiting page after you executed jupyter-shared-spark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41" name="Picture 1" descr="galyleonb.png"/>
          <p:cNvPicPr/>
          <p:nvPr/>
        </p:nvPicPr>
        <p:blipFill>
          <a:blip r:embed="rId1"/>
          <a:stretch/>
        </p:blipFill>
        <p:spPr>
          <a:xfrm>
            <a:off x="11658600" y="5580000"/>
            <a:ext cx="5905080" cy="288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39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3" name="Text 40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·IT </a:t>
            </a: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·</a:t>
            </a: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NOW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44" name="Text 41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Tr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y 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it 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n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o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w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45" name="Text 43"/>
          <p:cNvSpPr/>
          <p:nvPr/>
        </p:nvSpPr>
        <p:spPr>
          <a:xfrm>
            <a:off x="1238400" y="4460760"/>
            <a:ext cx="13849200" cy="13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It takes a couple minutes to complete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Don’t hesitate to ask questions!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46" name="Text 49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ALAT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Traini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ng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Progr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am ·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Sum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mer </a:t>
            </a: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CLEAN 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Stop your job when you're done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1238400" y="4460760"/>
            <a:ext cx="13849200" cy="28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Closing the browser tab does not stop the Slurm job.alert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Find it with </a:t>
            </a: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squeue -u &lt;username&gt;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, then </a:t>
            </a:r>
            <a:r>
              <a:rPr b="1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scancel &lt;JOBID&gt;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Idle jobs waste shared nodes, block other students from using Expanse, and burn project credits.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7111800" y="8545680"/>
            <a:ext cx="594756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Always release the node when you finish.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2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1"/>
          <a:srcRect l="3779" t="0" r="0" b="0"/>
          <a:stretch/>
        </p:blipFill>
        <p:spPr>
          <a:xfrm>
            <a:off x="4114800" y="7736400"/>
            <a:ext cx="10972800" cy="580680"/>
          </a:xfrm>
          <a:prstGeom prst="rect">
            <a:avLst/>
          </a:prstGeom>
          <a:ln w="0">
            <a:noFill/>
          </a:ln>
        </p:spPr>
      </p:pic>
      <p:sp>
        <p:nvSpPr>
          <p:cNvPr id="254" name=""/>
          <p:cNvSpPr/>
          <p:nvPr/>
        </p:nvSpPr>
        <p:spPr>
          <a:xfrm>
            <a:off x="4114800" y="7965000"/>
            <a:ext cx="1634400" cy="352080"/>
          </a:xfrm>
          <a:custGeom>
            <a:avLst/>
            <a:gdLst/>
            <a:ahLst/>
            <a:rect l="l" t="t" r="r" b="b"/>
            <a:pathLst>
              <a:path w="10019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96590" y="21600"/>
                </a:lnTo>
                <a:arcTo wR="74990" hR="3600" stAng="5400000" swAng="5400000"/>
                <a:lnTo>
                  <a:pt x="21600" y="3600"/>
                </a:lnTo>
                <a:arcTo wR="74990" hR="3600" stAng="10800000" swAng="5400000"/>
                <a:close/>
              </a:path>
            </a:pathLst>
          </a:cu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47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Text 50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BEHIND THE SCENE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57" name="Text 51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Behind the </a:t>
            </a: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scene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58" name="Text 52"/>
          <p:cNvSpPr/>
          <p:nvPr/>
        </p:nvSpPr>
        <p:spPr>
          <a:xfrm>
            <a:off x="1238400" y="4100760"/>
            <a:ext cx="13849200" cy="50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 </a:t>
            </a: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alias jupyter-shared-spark</a:t>
            </a:r>
            <a:r>
              <a:rPr b="1" lang="en-US" sz="3000" spc="-1" strike="noStrike">
                <a:solidFill>
                  <a:srgbClr val="666666"/>
                </a:solidFill>
                <a:latin typeface="Arial"/>
                <a:ea typeface="Arial"/>
              </a:rPr>
              <a:t>-lecture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galyleo launch --account </a:t>
            </a:r>
            <a:r>
              <a:rPr b="1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sdp178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--partition shared </a:t>
            </a:r>
            <a:r>
              <a:rPr b="0" lang="en-US" sz="2400" spc="-1" strike="noStrike">
                <a:solidFill>
                  <a:srgbClr val="666666"/>
                </a:solidFill>
                <a:latin typeface="Arial"/>
                <a:ea typeface="Arial"/>
              </a:rPr>
              <a:t>–reservation caida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--cpus </a:t>
            </a:r>
            <a:r>
              <a:rPr b="1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4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--memory </a:t>
            </a:r>
            <a:r>
              <a:rPr b="1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16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--time-limit </a:t>
            </a:r>
            <a:r>
              <a:rPr b="1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01:00:00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--sif </a:t>
            </a:r>
            <a:r>
              <a:rPr b="1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/expanse/lustre/projects/sdp178/kmok/etp26.sif</a:t>
            </a: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 --bind /expanse,/scratch,/cm –quiet</a:t>
            </a:r>
            <a:endParaRPr b="0" lang="en-US" sz="24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1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etp26.sif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is a singularity image that I pre-built for you, including the libraries that you may need in the notebook.</a:t>
            </a:r>
            <a:endParaRPr b="0" lang="en-US" sz="3000" spc="-1" strike="noStrike">
              <a:latin typeface="Arial"/>
            </a:endParaRPr>
          </a:p>
          <a:p>
            <a:pPr lvl="2" marL="648000" indent="-216000">
              <a:lnSpc>
                <a:spcPct val="14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343a40"/>
                </a:solidFill>
                <a:latin typeface="Arial"/>
                <a:ea typeface="Arial"/>
              </a:rPr>
              <a:t>Building details: https://github.com/CAIDA/nids-expanse-2026/tree/main/2_running_juypter_notebook/code/etpimage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9" name="Text 53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CONTAINER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Package the software environment as a container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1238400" y="3920760"/>
            <a:ext cx="8721360" cy="54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The batch job runs inside a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python:3.12-slim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image.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It adds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build-essential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(to build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pytricia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) and a JDK (PySpark needs a JVM).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On Expanse it runs as a Singularity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.sif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; a shared one is prebuilt.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Further details: https://github.com/CAIDA/nids-expanse-2026/tree/main/3_running_batch_job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11012400" y="7587720"/>
            <a:ext cx="594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Docker image, converted to a Singularity .sif on Expanse.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66" name="Picture 14" descr="container.png"/>
          <p:cNvPicPr/>
          <p:nvPr/>
        </p:nvPicPr>
        <p:blipFill>
          <a:blip r:embed="rId1"/>
          <a:stretch/>
        </p:blipFill>
        <p:spPr>
          <a:xfrm>
            <a:off x="10773000" y="3907080"/>
            <a:ext cx="5885640" cy="350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be4228"/>
                </a:solidFill>
                <a:latin typeface="Arial"/>
                <a:ea typeface="Arial"/>
              </a:rPr>
              <a:t>ACTION REQUIRED · WEEK 7 SETUP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Submit the batch job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1238400" y="43520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4"/>
          <p:cNvSpPr/>
          <p:nvPr/>
        </p:nvSpPr>
        <p:spPr>
          <a:xfrm>
            <a:off x="1200240" y="44600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2095560" y="420912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Find the location of the S3 keys: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.ucsdnts3.env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(passed via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--env-file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).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1238400" y="56138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7"/>
          <p:cNvSpPr/>
          <p:nvPr/>
        </p:nvSpPr>
        <p:spPr>
          <a:xfrm>
            <a:off x="1200240" y="57218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2095560" y="5182920"/>
            <a:ext cx="1540260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cd 3_running_batch_job/code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, then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sbatch shared_4x16G-batch</a:t>
            </a:r>
            <a:r>
              <a:rPr b="1" lang="en-US" sz="3000" spc="-1" strike="noStrike">
                <a:solidFill>
                  <a:srgbClr val="808080"/>
                </a:solidFill>
                <a:latin typeface="Roboto Mono"/>
                <a:ea typeface="Arial"/>
              </a:rPr>
              <a:t>-lecture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.slurm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1238400" y="687564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10"/>
          <p:cNvSpPr/>
          <p:nvPr/>
        </p:nvSpPr>
        <p:spPr>
          <a:xfrm>
            <a:off x="1200240" y="698364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2095560" y="67330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Watch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squeue -u &lt;username&gt;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and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joblogs/slurm-&lt;jobid&gt;.out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9" name="Shape 12"/>
          <p:cNvSpPr/>
          <p:nvPr/>
        </p:nvSpPr>
        <p:spPr>
          <a:xfrm>
            <a:off x="1238400" y="8137800"/>
            <a:ext cx="571320" cy="57132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3"/>
          <p:cNvSpPr/>
          <p:nvPr/>
        </p:nvSpPr>
        <p:spPr>
          <a:xfrm>
            <a:off x="1200240" y="8245800"/>
            <a:ext cx="64728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2095560" y="7994880"/>
            <a:ext cx="154026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Results land in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output/&lt;jobid&gt;/result.csv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 and </a:t>
            </a:r>
            <a:r>
              <a:rPr b="1" lang="en-US" sz="3000" spc="-1" strike="noStrike">
                <a:solidFill>
                  <a:srgbClr val="212529"/>
                </a:solidFill>
                <a:latin typeface="Roboto Mono"/>
                <a:ea typeface="Arial"/>
              </a:rPr>
              <a:t>resultcountry.csv</a:t>
            </a:r>
            <a:r>
              <a:rPr b="1" lang="en-US" sz="3000" spc="-1" strike="noStrike">
                <a:solidFill>
                  <a:srgbClr val="212529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CONFIGURE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Configure a Slurm job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7" name="Text 59"/>
          <p:cNvSpPr/>
          <p:nvPr/>
        </p:nvSpPr>
        <p:spPr>
          <a:xfrm>
            <a:off x="1337040" y="2724120"/>
            <a:ext cx="9178560" cy="68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job-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nam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e=et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p-ft-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batc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dem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partit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ion=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shar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ed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acco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unt=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sdp1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78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node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s=1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ntas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ks=1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ntas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ks-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per-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node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=1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cpus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-per-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task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=4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mem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-per-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cpu=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4000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--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time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=00: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30:0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0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#SB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ATC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–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outp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ut="j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oblo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gs/sl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urm-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%j.o</a:t>
            </a: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ut"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...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sing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ulari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ty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exec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--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env-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file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$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{PR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OJ_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DIR}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/km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ok/.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ucsd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nts3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.env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\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   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--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bind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$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{OU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TPU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T_DI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R}:/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outp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ut,$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{RE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PO_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DIR}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:/etp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,/tm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p,/sc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ratc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 \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   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$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{PR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OJ_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DIR}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/km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ok/e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tppy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batc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h.sif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\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   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pyth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on /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etp/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3_ru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nnin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g_ba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tch_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job/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code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/ft-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dem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o.py 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--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outp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ut-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dir /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outp</a:t>
            </a:r>
            <a:r>
              <a:rPr b="1" lang="en-US" sz="2000" spc="-1" strike="noStrike">
                <a:solidFill>
                  <a:srgbClr val="343a40"/>
                </a:solidFill>
                <a:latin typeface="Arial"/>
                <a:ea typeface="Arial"/>
              </a:rPr>
              <a:t>ut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88" name="Text 60"/>
          <p:cNvSpPr/>
          <p:nvPr/>
        </p:nvSpPr>
        <p:spPr>
          <a:xfrm>
            <a:off x="9144000" y="2996640"/>
            <a:ext cx="8721360" cy="27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#SBATCH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header configures the job: cores, memory, time, and partition.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Add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--mail-type=BEGIN/END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with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--mail-user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to be emailed when it finishes.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9829800" y="7315200"/>
            <a:ext cx="8229600" cy="2286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3672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3672" y="21600"/>
                </a:lnTo>
                <a:lnTo>
                  <a:pt x="3672" y="13893"/>
                </a:lnTo>
                <a:lnTo>
                  <a:pt x="2119" y="13893"/>
                </a:lnTo>
                <a:lnTo>
                  <a:pt x="2119" y="16200"/>
                </a:lnTo>
                <a:lnTo>
                  <a:pt x="0" y="10800"/>
                </a:lnTo>
                <a:lnTo>
                  <a:pt x="2119" y="5400"/>
                </a:lnTo>
                <a:lnTo>
                  <a:pt x="2119" y="7707"/>
                </a:lnTo>
                <a:lnTo>
                  <a:pt x="3672" y="7707"/>
                </a:lnTo>
                <a:close/>
              </a:path>
            </a:pathLst>
          </a:cu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This line is the actual job.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--env-file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reads the S3 credentials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--bind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maps directory from outside to insider the container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etppybatch.sif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is the pre-build image for this class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python ….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is the command to be ran inside the container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9144000" y="5867640"/>
            <a:ext cx="8695800" cy="99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RUN · LOGS &amp; OUTPUT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Find your logs and output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1238400" y="4460760"/>
            <a:ext cx="8721360" cy="40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33360" indent="-333360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Slurm writes stdout and stderr to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joblogs/slurm-&lt;jobid&gt;.out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, beside where you ran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sbatch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Results land in your project space under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output/&lt;jobid&gt;/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  <a:p>
            <a:pPr marL="333360" indent="-333360">
              <a:lnSpc>
                <a:spcPct val="140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That folder holds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result.csv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 and </a:t>
            </a:r>
            <a:r>
              <a:rPr b="0" lang="en-US" sz="3000" spc="-1" strike="noStrike">
                <a:solidFill>
                  <a:srgbClr val="343a40"/>
                </a:solidFill>
                <a:latin typeface="Roboto Mono"/>
                <a:ea typeface="Arial"/>
              </a:rPr>
              <a:t>resultcountry.csv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11012400" y="7587720"/>
            <a:ext cx="5947560" cy="11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Logs sit at the joblogs directory at the location you execute the slurm script; results go to project output.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11077920" y="6629400"/>
            <a:ext cx="4238280" cy="40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ASSIGNMENT 7 · DUE BEGINNING OF WEEK 8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Recap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1238400" y="2246040"/>
            <a:ext cx="1108584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Run the telescope FlowTuple analysis on Expanse, both ways.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1238400" y="3599280"/>
            <a:ext cx="11242800" cy="40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Set up your ACCESS-CI account, 2FA login, and shell environment.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Basic commands on Expanse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Launch a Jupyter notebook using gelyleo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Submit a batch job using slurm script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spcBef>
                <a:spcPts val="799"/>
              </a:spcBef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Customize slurm scripts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12573000" y="2246040"/>
            <a:ext cx="4476240" cy="7278480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13"/>
          <p:cNvSpPr/>
          <p:nvPr/>
        </p:nvSpPr>
        <p:spPr>
          <a:xfrm>
            <a:off x="12934800" y="2608200"/>
            <a:ext cx="4127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2b5187"/>
                </a:solidFill>
                <a:latin typeface="Arial"/>
                <a:ea typeface="Arial"/>
              </a:rPr>
              <a:t>MODULE MILESTONE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5" name="Text 14"/>
          <p:cNvSpPr/>
          <p:nvPr/>
        </p:nvSpPr>
        <p:spPr>
          <a:xfrm>
            <a:off x="12934800" y="3008160"/>
            <a:ext cx="3864960" cy="14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Your module now runs on Expanse, interactively and as a batch job.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06" name="Shape 15"/>
          <p:cNvSpPr/>
          <p:nvPr/>
        </p:nvSpPr>
        <p:spPr>
          <a:xfrm>
            <a:off x="12934800" y="4617360"/>
            <a:ext cx="3752640" cy="9000"/>
          </a:xfrm>
          <a:prstGeom prst="rect">
            <a:avLst/>
          </a:prstGeom>
          <a:solidFill>
            <a:srgbClr val="dee2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6"/>
          <p:cNvSpPr/>
          <p:nvPr/>
        </p:nvSpPr>
        <p:spPr>
          <a:xfrm>
            <a:off x="12934800" y="4773240"/>
            <a:ext cx="4127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REPOSITORY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8" name="Text 17"/>
          <p:cNvSpPr/>
          <p:nvPr/>
        </p:nvSpPr>
        <p:spPr>
          <a:xfrm>
            <a:off x="12934800" y="5132880"/>
            <a:ext cx="3864960" cy="9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12529"/>
                </a:solidFill>
                <a:latin typeface="Roboto Mono"/>
                <a:ea typeface="Arial"/>
              </a:rPr>
              <a:t>https://github.com/CAIDA/nids-expanse-2026/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09" name="Text 18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65"/>
          <p:cNvSpPr/>
          <p:nvPr/>
        </p:nvSpPr>
        <p:spPr>
          <a:xfrm>
            <a:off x="13031640" y="876240"/>
            <a:ext cx="441972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106" strike="noStrike">
                <a:solidFill>
                  <a:srgbClr val="212529"/>
                </a:solidFill>
                <a:latin typeface="Arial"/>
                <a:ea typeface="Arial"/>
              </a:rPr>
              <a:t>WEEK 7 · BUILDING BLOCK 7 / 10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1" name="Text 66"/>
          <p:cNvSpPr/>
          <p:nvPr/>
        </p:nvSpPr>
        <p:spPr>
          <a:xfrm>
            <a:off x="1238400" y="838080"/>
            <a:ext cx="10652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50" spc="270" strike="noStrike">
                <a:solidFill>
                  <a:srgbClr val="a9c2e4"/>
                </a:solidFill>
                <a:latin typeface="Arial"/>
                <a:ea typeface="Arial"/>
              </a:rPr>
              <a:t>ASSIGNMENT 7 · DUE BEGINNING OF WEEK 8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312" name="Text 67"/>
          <p:cNvSpPr/>
          <p:nvPr/>
        </p:nvSpPr>
        <p:spPr>
          <a:xfrm>
            <a:off x="1238400" y="1496520"/>
            <a:ext cx="17392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4650" spc="-46" strike="noStrike">
                <a:solidFill>
                  <a:srgbClr val="2b5187"/>
                </a:solidFill>
                <a:latin typeface="Arial"/>
                <a:ea typeface="Arial"/>
              </a:rPr>
              <a:t>Assignment</a:t>
            </a:r>
            <a:endParaRPr b="0" lang="en-US" sz="4650" spc="-1" strike="noStrike">
              <a:latin typeface="Arial"/>
            </a:endParaRPr>
          </a:p>
        </p:txBody>
      </p:sp>
      <p:sp>
        <p:nvSpPr>
          <p:cNvPr id="313" name="Text 68"/>
          <p:cNvSpPr/>
          <p:nvPr/>
        </p:nvSpPr>
        <p:spPr>
          <a:xfrm>
            <a:off x="1238400" y="2246040"/>
            <a:ext cx="1108584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Release by this Thursday. Some tips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14" name="Text 69"/>
          <p:cNvSpPr/>
          <p:nvPr/>
        </p:nvSpPr>
        <p:spPr>
          <a:xfrm>
            <a:off x="1238400" y="3599280"/>
            <a:ext cx="11242800" cy="49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Use jupyter-shared-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spark-large for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generating the parquet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results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Start early (your code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code takes hours to run,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and you may not get a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slot from Expanse last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minute)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Use AI tools to translate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your notebook to pure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python</a:t>
            </a:r>
            <a:endParaRPr b="0" lang="en-US" sz="3000" spc="-1" strike="noStrike">
              <a:latin typeface="Arial"/>
            </a:endParaRPr>
          </a:p>
          <a:p>
            <a:pPr marL="314280" indent="-314280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You may occasionally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encounter S3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authentication errors. </a:t>
            </a:r>
            <a:r>
              <a:rPr b="0" lang="en-US" sz="3000" spc="-1" strike="noStrike">
                <a:solidFill>
                  <a:srgbClr val="343a40"/>
                </a:solidFill>
                <a:latin typeface="Arial"/>
                <a:ea typeface="Arial"/>
              </a:rPr>
              <a:t>You can just rerun it.</a:t>
            </a:r>
            <a:endParaRPr b="0" lang="en-US" sz="30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endParaRPr b="0" lang="en-US" sz="3000" spc="-1" strike="noStrike"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12573000" y="2246040"/>
            <a:ext cx="4476240" cy="7278480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70"/>
          <p:cNvSpPr/>
          <p:nvPr/>
        </p:nvSpPr>
        <p:spPr>
          <a:xfrm>
            <a:off x="12934800" y="2608200"/>
            <a:ext cx="4127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2b5187"/>
                </a:solidFill>
                <a:latin typeface="Arial"/>
                <a:ea typeface="Arial"/>
              </a:rPr>
              <a:t>MODULE MILESTONE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7" name="Text 71"/>
          <p:cNvSpPr/>
          <p:nvPr/>
        </p:nvSpPr>
        <p:spPr>
          <a:xfrm>
            <a:off x="12934800" y="3008160"/>
            <a:ext cx="3864960" cy="14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43a40"/>
                </a:solidFill>
                <a:latin typeface="Arial"/>
                <a:ea typeface="Arial"/>
              </a:rPr>
              <a:t>Your module now runs on Expanse, interactively and as a batch job.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18" name="Shape 2"/>
          <p:cNvSpPr/>
          <p:nvPr/>
        </p:nvSpPr>
        <p:spPr>
          <a:xfrm>
            <a:off x="12934800" y="4617360"/>
            <a:ext cx="3752640" cy="9000"/>
          </a:xfrm>
          <a:prstGeom prst="rect">
            <a:avLst/>
          </a:prstGeom>
          <a:solidFill>
            <a:srgbClr val="dee2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73"/>
          <p:cNvSpPr/>
          <p:nvPr/>
        </p:nvSpPr>
        <p:spPr>
          <a:xfrm>
            <a:off x="12934800" y="4773240"/>
            <a:ext cx="4127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0" strike="noStrike">
                <a:solidFill>
                  <a:srgbClr val="6c757d"/>
                </a:solidFill>
                <a:latin typeface="Arial"/>
                <a:ea typeface="Arial"/>
              </a:rPr>
              <a:t>REPOSITORY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0" name="Text 74"/>
          <p:cNvSpPr/>
          <p:nvPr/>
        </p:nvSpPr>
        <p:spPr>
          <a:xfrm>
            <a:off x="12934800" y="5132880"/>
            <a:ext cx="3864960" cy="9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12529"/>
                </a:solidFill>
                <a:latin typeface="Roboto Mono"/>
                <a:ea typeface="Arial"/>
              </a:rPr>
              <a:t>https://github.com/CAIDA/nids-expanse-2026/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21" name="Text 75"/>
          <p:cNvSpPr/>
          <p:nvPr/>
        </p:nvSpPr>
        <p:spPr>
          <a:xfrm>
            <a:off x="1238400" y="9594720"/>
            <a:ext cx="49467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c757d"/>
                </a:solidFill>
                <a:latin typeface="Arial"/>
                <a:ea typeface="Arial"/>
              </a:rPr>
              <a:t>ESCALATE Training Program · Summer 2026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2026-06-21T00:44:42Z</dcterms:created>
  <dc:creator>PptxGenJS</dc:creator>
  <dc:description/>
  <dc:language>en-US</dc:language>
  <cp:lastModifiedBy/>
  <dcterms:modified xsi:type="dcterms:W3CDTF">2026-07-28T13:17:12Z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